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47"/>
    <a:srgbClr val="F5F3F0"/>
    <a:srgbClr val="D2B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7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A07E-2538-17F2-4496-98F8E1A79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7BCEC-A00B-C175-5F12-5040051CC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E495A-9AC4-BB0F-BC2A-B52C6DC5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AA7F5-2378-91B7-9319-108F8EE0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5A71C-9D4D-F685-3535-0D2E363D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73B8-5A5C-4D3A-8BA0-20AF5BEB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0699-3448-C5FF-5DDB-15E6FD07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5B2E6-D2A1-1B11-5B71-57A388F3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051E5-4159-DEDA-3C67-837FE71E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1A179-4C2F-A6C7-C6C6-71A82568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0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6FD3-ABA6-6A08-7966-9E15EC73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E7508-F0D4-C9AF-603A-39672469E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310F4-7A58-265D-C96A-5F2F594CF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C0E3C-D061-0AE5-9E7D-7FA6F1B3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7A495-E968-3BEC-9EBE-CBA35B70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0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F835-279D-F6C5-BA6C-D1C40D60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BD26-6FC4-AF3F-6276-F30FCB059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C9A2-BD8B-A212-3B17-4B605B1CC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F73FD-A984-D393-86FA-9A4C6D57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DC1B9-AB32-73CE-9125-51A71FF1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B4599-4C57-318A-7284-9E39DA59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4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FD7E-6510-AAB1-61E3-B3C8AB32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CB239-5F17-6C45-00A9-28C14874F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48D36-563C-BD0B-696D-4F22E4C1D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A570E-A8B9-5BB8-4511-62C48D19E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6FFA2-3A5A-FC98-7698-FD0DE12F5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2B51B-B5D1-9684-D4A2-536F5F92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599A7-124F-24CF-0AF4-FFAAA309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6A90A-05CF-2AAA-F41F-93A4533D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8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E14A-D1BB-9F1F-A550-307F37AC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0B9D2-7CE9-1603-4BE6-54EFBB70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0BFB3-34A6-FA77-0393-BA73AB70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EC4AE-7E5B-7448-C39C-281CDBA8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9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C84D2-8E47-CDFA-5A85-2372D030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A7560-0A19-1B53-C23C-D52E4DEC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53244-FC53-F018-9BD6-911D5EF1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0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D6EE-6B11-EFA4-DCDE-5EA24956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26369-C2D5-FB69-E04B-798F63EF0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207D0-00EE-A0BD-59F0-6C566E9DF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0CE0E-96D5-EEE2-54BF-D8BD03F4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2C0C4-EE8A-BB4F-3863-63D34C92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3D3B0-7A00-8844-539A-DE2A6533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4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0DE5-319E-AEDF-348C-6A32BF24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5E326-7F95-EC7E-BEF9-4B082D9DB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75137-285A-0664-953A-E24F632DD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04173-D624-AD0E-4FD0-A561D679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36C56-344A-1C9A-9966-48F4602E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A46AF-58BB-65BA-238C-E886830A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4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4C4-B66A-94B8-0C13-B04CE632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4AB3F-361F-52DB-8F53-A4A0A5883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647E-40C8-363C-D825-9AB5CB1A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D5F81-ECD5-1E90-1A7B-613C6DDE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1A951-F2C4-3779-9FE7-754B4E8F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0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17E6B-B1B7-2D27-5D5B-73E034959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A4859-4A25-F637-B388-6B9E9553E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93F41-6B9D-8825-0FA4-25444136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E7D0E-3E7A-EE89-13F9-23FAAD13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4FA3-3E66-C51A-57EE-6655A6B7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9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044B8-AB51-3322-293B-D0B8A2C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C6CC5-5BB2-53C3-BB2C-C1F8B330E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B421-CFA6-9B8B-3BB8-4C19865A0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007D7-377B-44B2-A8A6-01BEB096322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F8F0-2EEE-6EA3-D8D4-6BB9FAAF0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DEE7-32C1-10C9-C84F-1572BF332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9377F-AA62-405B-815D-11B99508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4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tevenjsiciliano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9899-ED98-A71B-F9ED-E3823244B8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1647"/>
                </a:solidFill>
              </a:rPr>
              <a:t>Olist</a:t>
            </a:r>
            <a:r>
              <a:rPr lang="en-US" dirty="0">
                <a:solidFill>
                  <a:srgbClr val="001647"/>
                </a:solidFill>
              </a:rPr>
              <a:t> Revenue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C8970-C58B-DCBC-38E9-1F4FC9117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90821"/>
          </a:xfrm>
        </p:spPr>
        <p:txBody>
          <a:bodyPr/>
          <a:lstStyle/>
          <a:p>
            <a:r>
              <a:rPr lang="en-US" dirty="0">
                <a:solidFill>
                  <a:srgbClr val="001647"/>
                </a:solidFill>
              </a:rPr>
              <a:t>What drives revenue and customer satisfaction across Brazil?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8B6B519-7595-0EAB-6B56-68984ACB6A62}"/>
              </a:ext>
            </a:extLst>
          </p:cNvPr>
          <p:cNvSpPr txBox="1">
            <a:spLocks/>
          </p:cNvSpPr>
          <p:nvPr/>
        </p:nvSpPr>
        <p:spPr>
          <a:xfrm>
            <a:off x="3923371" y="4192859"/>
            <a:ext cx="4345258" cy="780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001647"/>
                </a:solidFill>
              </a:rPr>
              <a:t>Steven Siciliano · Data Analyst · github.com/Stezee96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EFF9C1-0D89-D0A5-E1A1-6C0F8658EDED}"/>
              </a:ext>
            </a:extLst>
          </p:cNvPr>
          <p:cNvCxnSpPr>
            <a:cxnSpLocks/>
          </p:cNvCxnSpPr>
          <p:nvPr/>
        </p:nvCxnSpPr>
        <p:spPr>
          <a:xfrm>
            <a:off x="2226128" y="3429000"/>
            <a:ext cx="7647215" cy="0"/>
          </a:xfrm>
          <a:prstGeom prst="line">
            <a:avLst/>
          </a:prstGeom>
          <a:ln w="12700" cap="rnd" cmpd="sng">
            <a:solidFill>
              <a:schemeClr val="accent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7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12DB5-0BB6-C865-6F7F-DDABBFEA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1647"/>
                </a:solidFill>
                <a:highlight>
                  <a:srgbClr val="F5F3F0"/>
                </a:highlight>
              </a:rPr>
              <a:t>The</a:t>
            </a:r>
            <a:r>
              <a:rPr lang="en-US" dirty="0">
                <a:solidFill>
                  <a:srgbClr val="001647"/>
                </a:solidFill>
              </a:rPr>
              <a:t>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4805D-9E73-32AD-FAB2-6A455EDC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001647"/>
                </a:solidFill>
              </a:rPr>
              <a:t>~99K orders · ~340K rows of Brazilian e-commerce data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r>
              <a:rPr lang="en-US" sz="1400" dirty="0">
                <a:solidFill>
                  <a:srgbClr val="001647"/>
                </a:solidFill>
              </a:rPr>
              <a:t>8 relational tables (PostgreSQL schema, foreign keys)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r>
              <a:rPr lang="en-US" sz="1400" dirty="0">
                <a:solidFill>
                  <a:srgbClr val="001647"/>
                </a:solidFill>
              </a:rPr>
              <a:t>Time span: Sept 2016 – Sept 2018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r>
              <a:rPr lang="en-US" sz="1400" dirty="0">
                <a:solidFill>
                  <a:srgbClr val="001647"/>
                </a:solidFill>
              </a:rPr>
              <a:t>Cleaned &amp; validated in SQL — zero rows deleted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r>
              <a:rPr lang="en-US" sz="1400" dirty="0">
                <a:solidFill>
                  <a:srgbClr val="001647"/>
                </a:solidFill>
              </a:rPr>
              <a:t>Revenue locked at R$13.59M — every query verified against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0C819-09F4-130D-319B-EDB451251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300" y="209550"/>
            <a:ext cx="6710802" cy="637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7F526-D331-B128-7AB2-833D7BAD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0" y="661035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1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D1B1C-8D68-9B3A-E4E7-FE7BE4BF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 dirty="0">
                <a:solidFill>
                  <a:srgbClr val="001647"/>
                </a:solidFill>
                <a:latin typeface="+mj-lt"/>
                <a:ea typeface="+mj-ea"/>
                <a:cs typeface="+mj-cs"/>
              </a:rPr>
              <a:t>Delivery speed decides your rating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5ACC-FD4F-7AB8-FFC3-773336B9E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2419747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1647"/>
                </a:solidFill>
              </a:rPr>
              <a:t>The clearer a shipment's speed, the higher its rating.</a:t>
            </a:r>
          </a:p>
          <a:p>
            <a:pPr marL="0" indent="0" algn="ctr">
              <a:buNone/>
            </a:pPr>
            <a:endParaRPr lang="en-US" sz="2400" dirty="0">
              <a:solidFill>
                <a:srgbClr val="001647"/>
              </a:solidFill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59F0A-4D69-BFBC-38AA-D986DB45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73" y="3750848"/>
            <a:ext cx="9737655" cy="2264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EB22F6-B0D4-8063-9065-44707B1D3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0" y="661035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AB262-C333-894D-5CCC-6710E18E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Geography drives revenue, not category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4D37C1-F8DC-3F7A-D666-5B970E797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2015530"/>
            <a:ext cx="6408836" cy="2675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833E6-D472-61B5-F46F-8963E3FF4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0" y="661035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BD9BB-E736-7D0A-180D-F8D0BD0D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001647"/>
                </a:solidFill>
              </a:rPr>
              <a:t>Where and when the revenue happens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5DE1-D572-81F6-BFAD-AD95F509D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1647"/>
                </a:solidFill>
              </a:rPr>
              <a:t>• Revenue is geographically concentrated — SP alone drives ~38%</a:t>
            </a:r>
            <a:br>
              <a:rPr lang="en-US" sz="1800" dirty="0">
                <a:solidFill>
                  <a:srgbClr val="001647"/>
                </a:solidFill>
              </a:rPr>
            </a:br>
            <a:endParaRPr lang="en-US" sz="1800" dirty="0">
              <a:solidFill>
                <a:srgbClr val="001647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1647"/>
                </a:solidFill>
              </a:rPr>
              <a:t>• Growth was steady, peaking each November (holiday demand)</a:t>
            </a:r>
            <a:br>
              <a:rPr lang="en-US" sz="1800" dirty="0">
                <a:solidFill>
                  <a:srgbClr val="001647"/>
                </a:solidFill>
              </a:rPr>
            </a:br>
            <a:endParaRPr lang="en-US" sz="1800" dirty="0">
              <a:solidFill>
                <a:srgbClr val="001647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1647"/>
                </a:solidFill>
              </a:rPr>
              <a:t>• </a:t>
            </a:r>
            <a:r>
              <a:rPr lang="en-US" sz="1800" b="1" dirty="0">
                <a:solidFill>
                  <a:srgbClr val="001647"/>
                </a:solidFill>
              </a:rPr>
              <a:t>Decision:</a:t>
            </a:r>
            <a:r>
              <a:rPr lang="en-US" sz="1800" dirty="0">
                <a:solidFill>
                  <a:srgbClr val="001647"/>
                </a:solidFill>
              </a:rPr>
              <a:t> focus marketing on top states, stock up before Q4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AE879-8509-F8DA-A428-1C7258E8F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041" y="188101"/>
            <a:ext cx="4100371" cy="3052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331BDE-57BA-BCA7-2A81-B30614DF7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685" y="3429000"/>
            <a:ext cx="4057081" cy="28549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5A7CD9-331A-77A8-5C84-86525B506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0" y="661035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5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1AC40-C713-0287-6EDD-971A7BD9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1647"/>
                </a:solidFill>
              </a:rPr>
              <a:t>From findings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407F0-DA0E-3941-466F-24FC572DE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1. Fix delivery speed </a:t>
            </a:r>
            <a:r>
              <a:rPr lang="en-US" sz="1400" dirty="0">
                <a:solidFill>
                  <a:srgbClr val="001647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Set a ~10-day delivery target and fix the slowest shipments.</a:t>
            </a:r>
            <a:br>
              <a:rPr lang="en-US" sz="1400" dirty="0">
                <a:solidFill>
                  <a:srgbClr val="001647"/>
                </a:solidFill>
              </a:rPr>
            </a:br>
            <a:r>
              <a:rPr lang="en-US" sz="1400" dirty="0">
                <a:solidFill>
                  <a:srgbClr val="001647"/>
                </a:solidFill>
              </a:rPr>
              <a:t>1-star orders take 2x longer to arrive than 5-star — delivery drives satisfaction.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2. Market by geography</a:t>
            </a:r>
            <a:r>
              <a:rPr lang="en-US" sz="1400" dirty="0">
                <a:solidFill>
                  <a:srgbClr val="001647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Concentrate marketing spend on top states.</a:t>
            </a:r>
            <a:br>
              <a:rPr lang="en-US" sz="1400" dirty="0">
                <a:solidFill>
                  <a:srgbClr val="001647"/>
                </a:solidFill>
              </a:rPr>
            </a:br>
            <a:r>
              <a:rPr lang="en-US" sz="1400" dirty="0">
                <a:solidFill>
                  <a:srgbClr val="001647"/>
                </a:solidFill>
              </a:rPr>
              <a:t>Just 5 states drive 74% of revenue; São Paulo alone is ~38%.</a:t>
            </a:r>
          </a:p>
          <a:p>
            <a:pPr marL="0" indent="0">
              <a:buNone/>
            </a:pPr>
            <a:endParaRPr lang="en-US" sz="1400" dirty="0">
              <a:solidFill>
                <a:srgbClr val="001647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3. Keep the catalog broad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Maintain a wide product range.</a:t>
            </a:r>
            <a:br>
              <a:rPr lang="en-US" sz="1400" dirty="0">
                <a:solidFill>
                  <a:srgbClr val="001647"/>
                </a:solidFill>
              </a:rPr>
            </a:br>
            <a:r>
              <a:rPr lang="en-US" sz="1400" dirty="0">
                <a:solidFill>
                  <a:srgbClr val="001647"/>
                </a:solidFill>
              </a:rPr>
              <a:t>Revenue spreads across categories — top 5 are only 40%, so no product dominates.</a:t>
            </a:r>
          </a:p>
          <a:p>
            <a:pPr marL="0" indent="0">
              <a:buNone/>
            </a:pPr>
            <a:endParaRPr lang="en-US" sz="1400" b="1" dirty="0">
              <a:solidFill>
                <a:srgbClr val="001647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4. Plan for the peak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1647"/>
                </a:solidFill>
              </a:rPr>
              <a:t>Plan inventory around the Q4 holiday peak.</a:t>
            </a:r>
            <a:br>
              <a:rPr lang="en-US" sz="1400" dirty="0">
                <a:solidFill>
                  <a:srgbClr val="001647"/>
                </a:solidFill>
              </a:rPr>
            </a:br>
            <a:r>
              <a:rPr lang="en-US" sz="1400" dirty="0">
                <a:solidFill>
                  <a:srgbClr val="001647"/>
                </a:solidFill>
              </a:rPr>
              <a:t>Revenue peaks every November (Black Friday demand).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2D5E4A-C819-AB88-1DE2-C9EBA0183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0" y="661035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6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2D971-F441-6868-B2C3-82F50FD3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Questions? Let's talk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851E-CCE7-4290-7FBA-4F7042FE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b="1" dirty="0"/>
              <a:t>Built with:</a:t>
            </a:r>
            <a:br>
              <a:rPr lang="en-US" sz="2000" dirty="0"/>
            </a:br>
            <a:r>
              <a:rPr lang="en-US" sz="2000" dirty="0"/>
              <a:t>PostgreSQL · Power BI (DAX) · Power Query · Excel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03576F-7CA9-AEB5-43AF-9AF55ADB7A67}"/>
              </a:ext>
            </a:extLst>
          </p:cNvPr>
          <p:cNvSpPr txBox="1">
            <a:spLocks/>
          </p:cNvSpPr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Steven Siciliano</a:t>
            </a:r>
            <a:r>
              <a:rPr lang="en-US" sz="2000" dirty="0"/>
              <a:t> · Data Analyst</a:t>
            </a:r>
            <a:br>
              <a:rPr lang="en-US" sz="2000" dirty="0"/>
            </a:br>
            <a:r>
              <a:rPr lang="en-US" sz="2000" dirty="0"/>
              <a:t>🔗 github.com/Stezee96</a:t>
            </a:r>
            <a:br>
              <a:rPr lang="en-US" sz="2000" dirty="0"/>
            </a:br>
            <a:r>
              <a:rPr lang="en-US" sz="2000" dirty="0"/>
              <a:t>💼 linkedin.com/in/</a:t>
            </a:r>
            <a:r>
              <a:rPr lang="en-US" sz="2000" dirty="0" err="1"/>
              <a:t>stevensiciliano</a:t>
            </a:r>
            <a:br>
              <a:rPr lang="en-US" sz="2000" dirty="0"/>
            </a:br>
            <a:r>
              <a:rPr lang="en-US" sz="2000" dirty="0"/>
              <a:t>✉️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stevenjsiciliano@gmail.com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649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308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Olist Revenue Intelligence</vt:lpstr>
      <vt:lpstr>The Data </vt:lpstr>
      <vt:lpstr>Delivery speed decides your rating </vt:lpstr>
      <vt:lpstr>Geography drives revenue, not category </vt:lpstr>
      <vt:lpstr>Where and when the revenue happens </vt:lpstr>
      <vt:lpstr>From findings to action</vt:lpstr>
      <vt:lpstr>Questions? Let's 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Siciliano</dc:creator>
  <cp:lastModifiedBy>Steven Siciliano</cp:lastModifiedBy>
  <cp:revision>9</cp:revision>
  <dcterms:created xsi:type="dcterms:W3CDTF">2026-07-09T12:46:19Z</dcterms:created>
  <dcterms:modified xsi:type="dcterms:W3CDTF">2026-07-09T18:45:33Z</dcterms:modified>
</cp:coreProperties>
</file>